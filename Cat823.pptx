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charts/chart2.xml" ContentType="application/vnd.openxmlformats-officedocument.drawingml.chart+xml"/>
  <Override PartName="/ppt/charts/chart1.xml" ContentType="application/vnd.openxmlformats-officedocument.drawingml.chart+xml"/>
  <Override PartName="/ppt/charts/chart4.xml" ContentType="application/vnd.openxmlformats-officedocument.drawingml.chart+xml"/>
  <Override PartName="/ppt/charts/chart3.xml" ContentType="application/vnd.openxmlformats-officedocument.drawingml.chart+xml"/>
  <Override PartName="/ppt/slideLayouts/_rels/slideLayout2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media/image11.jpeg" ContentType="image/jpeg"/>
  <Override PartName="/ppt/media/image10.jpeg" ContentType="image/jpeg"/>
  <Override PartName="/ppt/media/image13.jpeg" ContentType="image/jpeg"/>
  <Override PartName="/ppt/media/image12.jpeg" ContentType="image/jpeg"/>
  <Override PartName="/ppt/media/image14.jpeg" ContentType="image/jpeg"/>
  <Override PartName="/ppt/media/image20.jpeg" ContentType="image/jpeg"/>
  <Override PartName="/ppt/media/image21.jpeg" ContentType="image/jpeg"/>
  <Override PartName="/ppt/media/image15.jpeg" ContentType="image/jpeg"/>
  <Override PartName="/ppt/media/image17.jpeg" ContentType="image/jpeg"/>
  <Override PartName="/ppt/media/image16.jpeg" ContentType="image/jpeg"/>
  <Override PartName="/ppt/media/image18.jpeg" ContentType="image/jpeg"/>
  <Override PartName="/ppt/media/image19.jpeg" ContentType="image/jpeg"/>
  <Override PartName="/ppt/media/image2.jpeg" ContentType="image/jpeg"/>
  <Override PartName="/ppt/media/image1.jpeg" ContentType="image/jpeg"/>
  <Override PartName="/ppt/media/image3.jpeg" ContentType="image/jpeg"/>
  <Override PartName="/ppt/media/image4.jpeg" ContentType="image/jpeg"/>
  <Override PartName="/ppt/media/image6.jpeg" ContentType="image/jpeg"/>
  <Override PartName="/ppt/media/image5.jpeg" ContentType="image/jpeg"/>
  <Override PartName="/ppt/media/image7.jpeg" ContentType="image/jpeg"/>
  <Override PartName="/ppt/media/image8.jpeg" ContentType="image/jpeg"/>
  <Override PartName="/ppt/media/image9.jpeg" ContentType="image/jpeg"/>
  <Override PartName="/ppt/presentation.xml" ContentType="application/vnd.openxmlformats-officedocument.presentationml.presentation.main+xml"/>
  <Override PartName="/ppt/theme/theme9.xml" ContentType="application/vnd.openxmlformats-officedocument.theme+xml"/>
  <Override PartName="/ppt/theme/theme16.xml" ContentType="application/vnd.openxmlformats-officedocument.theme+xml"/>
  <Override PartName="/ppt/theme/theme8.xml" ContentType="application/vnd.openxmlformats-officedocument.theme+xml"/>
  <Override PartName="/ppt/theme/theme15.xml" ContentType="application/vnd.openxmlformats-officedocument.theme+xml"/>
  <Override PartName="/ppt/theme/theme7.xml" ContentType="application/vnd.openxmlformats-officedocument.theme+xml"/>
  <Override PartName="/ppt/theme/theme10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5.xml" ContentType="application/vnd.openxmlformats-officedocument.theme+xml"/>
  <Override PartName="/ppt/theme/theme1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6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</p:sldMasterIdLst>
  <p:sldIdLst>
    <p:sldId id="256" r:id="rId24"/>
    <p:sldId id="257" r:id="rId25"/>
    <p:sldId id="258" r:id="rId26"/>
    <p:sldId id="259" r:id="rId27"/>
    <p:sldId id="260" r:id="rId28"/>
    <p:sldId id="261" r:id="rId29"/>
    <p:sldId id="262" r:id="rId30"/>
    <p:sldId id="263" r:id="rId31"/>
    <p:sldId id="264" r:id="rId32"/>
    <p:sldId id="265" r:id="rId3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" Target="slides/slide1.xml"/><Relationship Id="rId25" Type="http://schemas.openxmlformats.org/officeDocument/2006/relationships/slide" Target="slides/slide2.xml"/><Relationship Id="rId26" Type="http://schemas.openxmlformats.org/officeDocument/2006/relationships/slide" Target="slides/slide3.xml"/><Relationship Id="rId27" Type="http://schemas.openxmlformats.org/officeDocument/2006/relationships/slide" Target="slides/slide4.xml"/><Relationship Id="rId28" Type="http://schemas.openxmlformats.org/officeDocument/2006/relationships/slide" Target="slides/slide5.xml"/><Relationship Id="rId29" Type="http://schemas.openxmlformats.org/officeDocument/2006/relationships/slide" Target="slides/slide6.xml"/><Relationship Id="rId30" Type="http://schemas.openxmlformats.org/officeDocument/2006/relationships/slide" Target="slides/slide7.xml"/><Relationship Id="rId31" Type="http://schemas.openxmlformats.org/officeDocument/2006/relationships/slide" Target="slides/slide8.xml"/><Relationship Id="rId32" Type="http://schemas.openxmlformats.org/officeDocument/2006/relationships/slide" Target="slides/slide9.xml"/><Relationship Id="rId33" Type="http://schemas.openxmlformats.org/officeDocument/2006/relationships/slide" Target="slides/slide10.xml"/><Relationship Id="rId34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ffffff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ffffff"/>
                </a:solidFill>
                <a:latin typeface="Calibri"/>
              </a:rPr>
              <a:t>Заглавие диаграммы</a:t>
            </a:r>
          </a:p>
        </c:rich>
      </c:tx>
      <c:layout>
        <c:manualLayout>
          <c:xMode val="edge"/>
          <c:yMode val="edge"/>
          <c:x val="0.675230333097094"/>
          <c:y val="0.904451827242525"/>
        </c:manualLayout>
      </c:layout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0c0ef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004185"/>
            </a:solidFill>
            <a:ln w="0">
              <a:noFill/>
            </a:ln>
          </c:spPr>
          <c:invertIfNegative val="0"/>
          <c:dPt>
            <c:idx val="1"/>
            <c:invertIfNegative val="0"/>
            <c:spPr>
              <a:solidFill>
                <a:srgbClr val="00cccc"/>
              </a:solidFill>
              <a:ln w="0">
                <a:noFill/>
              </a:ln>
            </c:spPr>
          </c:dPt>
          <c:dLbls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a5a5a5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31497805"/>
        <c:axId val="21098673"/>
      </c:barChart>
      <c:catAx>
        <c:axId val="31497805"/>
        <c:scaling>
          <c:orientation val="minMax"/>
        </c:scaling>
        <c:delete val="0"/>
        <c:axPos val="b"/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ffffff"/>
                </a:solidFill>
                <a:latin typeface="Calibri"/>
              </a:defRPr>
            </a:pPr>
          </a:p>
        </c:txPr>
        <c:crossAx val="21098673"/>
        <c:crosses val="autoZero"/>
        <c:auto val="1"/>
        <c:lblAlgn val="ctr"/>
        <c:lblOffset val="100"/>
        <c:noMultiLvlLbl val="0"/>
      </c:catAx>
      <c:valAx>
        <c:axId val="21098673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31497805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595959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595959"/>
                </a:solidFill>
                <a:latin typeface="Calibri"/>
              </a:rPr>
              <a:t>Продажи</a:t>
            </a:r>
          </a:p>
        </c:rich>
      </c:tx>
      <c:overlay val="0"/>
      <c:spPr>
        <a:noFill/>
        <a:ln w="0">
          <a:noFill/>
        </a:ln>
      </c:spPr>
    </c:title>
    <c:autoTitleDeleted val="0"/>
    <c:view3D>
      <c:rotX val="30"/>
      <c:rotY val="0"/>
      <c:rAngAx val="0"/>
      <c:perspective val="30"/>
    </c:view3D>
    <c:floor>
      <c:spPr>
        <a:solidFill>
          <a:srgbClr val="d9d9d9"/>
        </a:solidFill>
        <a:ln w="0">
          <a:noFill/>
        </a:ln>
      </c:spPr>
    </c:floor>
    <c:sideWall>
      <c:spPr>
        <a:solidFill>
          <a:srgbClr val="d9d9d9"/>
        </a:solidFill>
        <a:ln w="0">
          <a:noFill/>
        </a:ln>
      </c:spPr>
    </c:sideWall>
    <c:backWall>
      <c:spPr>
        <a:solidFill>
          <a:srgbClr val="d9d9d9"/>
        </a:solidFill>
        <a:ln w="0">
          <a:noFill/>
        </a:ln>
      </c:spPr>
    </c:backWall>
    <c:plotArea>
      <c:pie3D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Продажи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00cccc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1e4590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solidFill>
                <a:srgbClr val="40c0ef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3"/>
            <c:spPr>
              <a:solidFill>
                <a:srgbClr val="f0dc81"/>
              </a:solidFill>
              <a:ln w="25560">
                <a:solidFill>
                  <a:srgbClr val="ffffff"/>
                </a:solidFill>
                <a:round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3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eparator> </c:separator>
            <c:showLeaderLines val="1"/>
          </c:dLbls>
          <c:cat>
            <c:strRef>
              <c:f>categories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</c:pie3DChart>
    </c:plotArea>
    <c:legend>
      <c:legendPos val="b"/>
      <c:overlay val="0"/>
      <c:spPr>
        <a:solidFill>
          <a:srgbClr val="40c0ef"/>
        </a:solidFill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595959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595959"/>
                </a:solidFill>
                <a:latin typeface="Calibri"/>
              </a:rPr>
              <a:t>Заглавие диаграммы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b80b0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adc5e4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39872704"/>
        <c:axId val="66851565"/>
      </c:barChart>
      <c:catAx>
        <c:axId val="39872704"/>
        <c:scaling>
          <c:orientation val="minMax"/>
        </c:scaling>
        <c:delete val="0"/>
        <c:axPos val="b"/>
        <c:numFmt formatCode="&quot;Основной&quot;" sourceLinked="0"/>
        <c:majorTickMark val="out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66851565"/>
        <c:crosses val="autoZero"/>
        <c:auto val="1"/>
        <c:lblAlgn val="ctr"/>
        <c:lblOffset val="100"/>
        <c:noMultiLvlLbl val="0"/>
      </c:catAx>
      <c:valAx>
        <c:axId val="66851565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39872704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zero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595959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595959"/>
                </a:solidFill>
                <a:latin typeface="Calibri"/>
              </a:rPr>
              <a:t>Заглавие диаграммы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0c0ef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ea7551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00cccc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85923410"/>
        <c:axId val="69337645"/>
      </c:barChart>
      <c:catAx>
        <c:axId val="85923410"/>
        <c:scaling>
          <c:orientation val="minMax"/>
        </c:scaling>
        <c:delete val="0"/>
        <c:axPos val="b"/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69337645"/>
        <c:crosses val="autoZero"/>
        <c:auto val="1"/>
        <c:lblAlgn val="ctr"/>
        <c:lblOffset val="100"/>
        <c:noMultiLvlLbl val="0"/>
      </c:catAx>
      <c:valAx>
        <c:axId val="69337645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85923410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9D57552-F416-4FB1-BD9E-4B60B42835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CABAC71-2C61-408A-8D70-442E637DC4D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F50327E-B13D-454C-A2F1-052FDFE72ED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DDDBDFE-F864-4329-B9AF-A1454524A6F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60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538E4374-D92F-4A91-9646-802EBE7985D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B505299C-0D36-41D3-B8D7-2583DED5D51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DEC8F24D-B6D9-467E-BA6B-60FDF126461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95E7CA4A-AD87-49F5-ACC1-4A794E15C62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2AB3FE77-6ED1-4EEF-87EF-FE14100A57B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D2AEEE1E-251E-4266-89F3-38B1F18B2A8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60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D4AC0E84-4A77-412D-9CEE-D3456FF324B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C3C8424C-503B-4413-B72D-A299754278D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024EF217-8AD5-4B7B-A27E-24C39D71238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03B4530C-C9EF-4566-BA3E-E619C65A71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2745BEF0-0C6F-4975-B6C5-08B9234820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638C8830-5F31-450C-90C0-7FB383A81BB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/>
          </p:nvPr>
        </p:nvSpPr>
        <p:spPr>
          <a:xfrm>
            <a:off x="623160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7EF30171-C205-494F-808A-A97823E8C55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F0E422C9-3AF1-4303-914F-592BEC2A8A9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F010F2CB-A68A-4C26-9DEF-09A6424F0AF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900C3BA0-9A21-4934-92ED-93AD4AEF042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A8EDCA9F-A84F-42D0-914A-91E0A84650C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EDA8C3FC-A0AB-460C-A8A1-3A1CFF6859E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2.jpeg"/><Relationship Id="rId3" Type="http://schemas.openxmlformats.org/officeDocument/2006/relationships/chart" Target="../charts/chart1.xml"/><Relationship Id="rId4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2.jpeg"/><Relationship Id="rId3" Type="http://schemas.openxmlformats.org/officeDocument/2006/relationships/chart" Target="../charts/chart2.xml"/><Relationship Id="rId4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2.jpeg"/><Relationship Id="rId3" Type="http://schemas.openxmlformats.org/officeDocument/2006/relationships/chart" Target="../charts/chart3.xml"/><Relationship Id="rId4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2.jpeg"/><Relationship Id="rId3" Type="http://schemas.openxmlformats.org/officeDocument/2006/relationships/chart" Target="../charts/chart4.xml"/><Relationship Id="rId4" Type="http://schemas.openxmlformats.org/officeDocument/2006/relationships/slideLayout" Target="../slideLayouts/slideLayout2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5553666-45D9-49BA-BD81-9D62BAEBDF27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242B5FE-3B85-4629-BA8D-2244F50D791A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8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A98395B-B4FA-483C-B01A-BD541D516065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1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D6A0998-045E-4208-83F3-A789C226BCAA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4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C96E6F8-BA7E-45AA-922C-8DA663828C64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17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9267E9E-2CA8-4C33-A288-E54643E30F1D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0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653D27B-35A1-4F90-8E54-B7D1D791BBF2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3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E92CB3E-32C1-4CA7-B680-FFF6B707539E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6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049596E-9B96-4C93-9182-A562E71C26D2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29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C7F5E1E-4079-4E63-B404-B0662D05C868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32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CF5612D-FF3A-439E-8345-5862E85F7934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35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8BD0F4E-2D57-43C9-9E8B-048645FC3785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sldNum" idx="38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531F279-E18A-4F87-A660-401041A429CF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41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A4ABE94-BCD7-44AF-953B-0C0B43645734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sldNum" idx="44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F089D51-A260-482E-AB98-4E8E7B68277B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ldNum" idx="47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F4352D5-F6D9-49FF-A3F8-21013E400C7D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sldNum" idx="50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10498CD-E491-4A91-8C7B-66993DFAB166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" name="PlaceHolder 6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sldNum" idx="53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ED34529-D660-4426-A085-AFBF5C58AF1D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" name="Диаграмма 8"/>
          <p:cNvGraphicFramePr/>
          <p:nvPr/>
        </p:nvGraphicFramePr>
        <p:xfrm>
          <a:off x="2031840" y="719640"/>
          <a:ext cx="8127000" cy="541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56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581635C-486B-42D9-ADE6-DCA4951A791E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4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" name="Диаграмма 7"/>
          <p:cNvGraphicFramePr/>
          <p:nvPr/>
        </p:nvGraphicFramePr>
        <p:xfrm>
          <a:off x="2031840" y="719640"/>
          <a:ext cx="8127000" cy="541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5" name="PlaceHolder 1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sldNum" idx="59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03CE6D8-77D4-4BC2-AF17-7E7D473E4DCE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4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" name="Диаграмма 10"/>
          <p:cNvGraphicFramePr/>
          <p:nvPr/>
        </p:nvGraphicFramePr>
        <p:xfrm>
          <a:off x="2031840" y="719640"/>
          <a:ext cx="8127000" cy="541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9" name="PlaceHolder 1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sldNum" idx="62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E1E7051-A3E8-436E-BCC7-069132524F84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4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" name="Диаграмма 11"/>
          <p:cNvGraphicFramePr/>
          <p:nvPr/>
        </p:nvGraphicFramePr>
        <p:xfrm>
          <a:off x="2031840" y="719640"/>
          <a:ext cx="8127000" cy="541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3" name="PlaceHolder 1"/>
          <p:cNvSpPr>
            <a:spLocks noGrp="1"/>
          </p:cNvSpPr>
          <p:nvPr>
            <p:ph type="ftr" idx="6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sldNum" idx="65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FB15409-6853-4924-8C1B-60D8E9188F50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dt" idx="6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1"/>
          <p:cNvSpPr/>
          <p:nvPr/>
        </p:nvSpPr>
        <p:spPr>
          <a:xfrm>
            <a:off x="3036600" y="1828800"/>
            <a:ext cx="800820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ru-RU" sz="4000" spc="-1" strike="noStrike">
                <a:solidFill>
                  <a:srgbClr val="034185"/>
                </a:solidFill>
                <a:latin typeface="Montserrat"/>
              </a:rPr>
              <a:t>Праздничная презентация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2"/>
          <p:cNvSpPr/>
          <p:nvPr/>
        </p:nvSpPr>
        <p:spPr>
          <a:xfrm>
            <a:off x="3763440" y="3657600"/>
            <a:ext cx="6554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ru-RU" sz="2400" spc="-1" strike="noStrike">
                <a:solidFill>
                  <a:srgbClr val="034185"/>
                </a:solidFill>
                <a:latin typeface="Montserrat"/>
              </a:rPr>
              <a:t>23 февраля и 8 марта с котиками 🐱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7380000" y="4680000"/>
            <a:ext cx="283104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Лагуткина Валерия 201С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1"/>
          <p:cNvSpPr/>
          <p:nvPr/>
        </p:nvSpPr>
        <p:spPr>
          <a:xfrm>
            <a:off x="1558800" y="457200"/>
            <a:ext cx="87688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ru-RU" sz="2800" spc="-1" strike="noStrike">
                <a:solidFill>
                  <a:srgbClr val="dc143c"/>
                </a:solidFill>
                <a:latin typeface="Montserrat"/>
              </a:rPr>
              <a:t>🎖️ </a:t>
            </a:r>
            <a:r>
              <a:rPr b="1" lang="ru-RU" sz="2800" spc="-1" strike="noStrike">
                <a:solidFill>
                  <a:srgbClr val="dc143c"/>
                </a:solidFill>
                <a:latin typeface="Montserrat"/>
              </a:rPr>
              <a:t>23 Февраля - День защитника Отечества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2"/>
          <p:cNvSpPr/>
          <p:nvPr/>
        </p:nvSpPr>
        <p:spPr>
          <a:xfrm>
            <a:off x="914400" y="1371600"/>
            <a:ext cx="6400440" cy="13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Праздник отмечается с 1918 года</a:t>
            </a:r>
            <a:br>
              <a:rPr sz="1600"/>
            </a:b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Изначально - День Красной Армии</a:t>
            </a:r>
            <a:br>
              <a:rPr sz="1600"/>
            </a:b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С 2002 года - официальный выходной</a:t>
            </a:r>
            <a:br>
              <a:rPr sz="1600"/>
            </a:b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Поздравляем всех защитников!</a:t>
            </a:r>
            <a:br>
              <a:rPr sz="1600"/>
            </a:b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Сила, мужество и честь - их качества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Picture 3" descr="cat_0.jpg"/>
          <p:cNvPicPr/>
          <p:nvPr/>
        </p:nvPicPr>
        <p:blipFill>
          <a:blip r:embed="rId1"/>
          <a:stretch/>
        </p:blipFill>
        <p:spPr>
          <a:xfrm>
            <a:off x="7315200" y="1828800"/>
            <a:ext cx="3657240" cy="2742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"/>
          <p:cNvSpPr/>
          <p:nvPr/>
        </p:nvSpPr>
        <p:spPr>
          <a:xfrm>
            <a:off x="3398400" y="457200"/>
            <a:ext cx="5090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ru-RU" sz="2800" spc="-1" strike="noStrike">
                <a:solidFill>
                  <a:srgbClr val="dc143c"/>
                </a:solidFill>
                <a:latin typeface="Montserrat"/>
              </a:rPr>
              <a:t>🎁 </a:t>
            </a:r>
            <a:r>
              <a:rPr b="1" lang="ru-RU" sz="2800" spc="-1" strike="noStrike">
                <a:solidFill>
                  <a:srgbClr val="dc143c"/>
                </a:solidFill>
                <a:latin typeface="Montserrat"/>
              </a:rPr>
              <a:t>Традиции 23 февраля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2"/>
          <p:cNvSpPr/>
          <p:nvPr/>
        </p:nvSpPr>
        <p:spPr>
          <a:xfrm>
            <a:off x="914400" y="1371600"/>
            <a:ext cx="6400440" cy="13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Поздравления мужчин и мальчиков</a:t>
            </a:r>
            <a:br>
              <a:rPr sz="1600"/>
            </a:b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Вручение подарков и открыток</a:t>
            </a:r>
            <a:br>
              <a:rPr sz="1600"/>
            </a:b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Праздничные концерты и мероприятия</a:t>
            </a:r>
            <a:br>
              <a:rPr sz="1600"/>
            </a:b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Возложение цветов к памятникам</a:t>
            </a:r>
            <a:br>
              <a:rPr sz="1600"/>
            </a:b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Семейные праздники и застолья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4" name="Picture 3" descr="cat_1.jpg"/>
          <p:cNvPicPr/>
          <p:nvPr/>
        </p:nvPicPr>
        <p:blipFill>
          <a:blip r:embed="rId1"/>
          <a:stretch/>
        </p:blipFill>
        <p:spPr>
          <a:xfrm>
            <a:off x="7315200" y="1828800"/>
            <a:ext cx="3657240" cy="2742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1"/>
          <p:cNvSpPr/>
          <p:nvPr/>
        </p:nvSpPr>
        <p:spPr>
          <a:xfrm>
            <a:off x="2552400" y="457200"/>
            <a:ext cx="6781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ru-RU" sz="2800" spc="-1" strike="noStrike">
                <a:solidFill>
                  <a:srgbClr val="dc143c"/>
                </a:solidFill>
                <a:latin typeface="Montserrat"/>
              </a:rPr>
              <a:t>💐 </a:t>
            </a:r>
            <a:r>
              <a:rPr b="1" lang="ru-RU" sz="2800" spc="-1" strike="noStrike">
                <a:solidFill>
                  <a:srgbClr val="dc143c"/>
                </a:solidFill>
                <a:latin typeface="Montserrat"/>
              </a:rPr>
              <a:t>С Днем защитника Отечества!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2"/>
          <p:cNvSpPr/>
          <p:nvPr/>
        </p:nvSpPr>
        <p:spPr>
          <a:xfrm>
            <a:off x="914400" y="1371600"/>
            <a:ext cx="640044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Желаем:</a:t>
            </a:r>
            <a:br>
              <a:rPr sz="1600"/>
            </a:b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Крепкого здоровья и сил</a:t>
            </a:r>
            <a:br>
              <a:rPr sz="1600"/>
            </a:b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Мужества и отваги</a:t>
            </a:r>
            <a:br>
              <a:rPr sz="1600"/>
            </a:b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Удачи во всех начинаниях</a:t>
            </a:r>
            <a:br>
              <a:rPr sz="1600"/>
            </a:b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Мирного неба над головой</a:t>
            </a:r>
            <a:br>
              <a:rPr sz="1600"/>
            </a:b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Счастья и благополучия!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7" name="Picture 3" descr="cat_2.jpg"/>
          <p:cNvPicPr/>
          <p:nvPr/>
        </p:nvPicPr>
        <p:blipFill>
          <a:blip r:embed="rId1"/>
          <a:stretch/>
        </p:blipFill>
        <p:spPr>
          <a:xfrm>
            <a:off x="7315200" y="1828800"/>
            <a:ext cx="3657240" cy="2742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1"/>
          <p:cNvSpPr/>
          <p:nvPr/>
        </p:nvSpPr>
        <p:spPr>
          <a:xfrm>
            <a:off x="1364400" y="457200"/>
            <a:ext cx="9157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ru-RU" sz="2800" spc="-1" strike="noStrike">
                <a:solidFill>
                  <a:srgbClr val="ff69b4"/>
                </a:solidFill>
                <a:latin typeface="Montserrat"/>
              </a:rPr>
              <a:t>🌸 </a:t>
            </a:r>
            <a:r>
              <a:rPr b="1" lang="ru-RU" sz="2800" spc="-1" strike="noStrike">
                <a:solidFill>
                  <a:srgbClr val="ff69b4"/>
                </a:solidFill>
                <a:latin typeface="Montserrat"/>
              </a:rPr>
              <a:t>8 Марта - Международный женский день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Box 2"/>
          <p:cNvSpPr/>
          <p:nvPr/>
        </p:nvSpPr>
        <p:spPr>
          <a:xfrm>
            <a:off x="914400" y="1371600"/>
            <a:ext cx="6400440" cy="13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Отмечается с 1913 года</a:t>
            </a:r>
            <a:br>
              <a:rPr sz="1600"/>
            </a:b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Символ весны и женственности</a:t>
            </a:r>
            <a:br>
              <a:rPr sz="1600"/>
            </a:b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Праздник красоты и нежности</a:t>
            </a:r>
            <a:br>
              <a:rPr sz="1600"/>
            </a:b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День благодарности женщинам</a:t>
            </a:r>
            <a:br>
              <a:rPr sz="1600"/>
            </a:b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Официальный выходной в России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0" name="Picture 3" descr="cat_3.jpg"/>
          <p:cNvPicPr/>
          <p:nvPr/>
        </p:nvPicPr>
        <p:blipFill>
          <a:blip r:embed="rId1"/>
          <a:stretch/>
        </p:blipFill>
        <p:spPr>
          <a:xfrm>
            <a:off x="7315200" y="1828800"/>
            <a:ext cx="3657240" cy="2742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Box 1"/>
          <p:cNvSpPr/>
          <p:nvPr/>
        </p:nvSpPr>
        <p:spPr>
          <a:xfrm>
            <a:off x="3898800" y="457200"/>
            <a:ext cx="40888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ru-RU" sz="2800" spc="-1" strike="noStrike">
                <a:solidFill>
                  <a:srgbClr val="ff69b4"/>
                </a:solidFill>
                <a:latin typeface="Montserrat"/>
              </a:rPr>
              <a:t>💐 </a:t>
            </a:r>
            <a:r>
              <a:rPr b="1" lang="ru-RU" sz="2800" spc="-1" strike="noStrike">
                <a:solidFill>
                  <a:srgbClr val="ff69b4"/>
                </a:solidFill>
                <a:latin typeface="Montserrat"/>
              </a:rPr>
              <a:t>Символы 8 марта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2"/>
          <p:cNvSpPr/>
          <p:nvPr/>
        </p:nvSpPr>
        <p:spPr>
          <a:xfrm>
            <a:off x="914400" y="1371600"/>
            <a:ext cx="6400440" cy="13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Тюльпаны и мимозы - главные цветы</a:t>
            </a:r>
            <a:br>
              <a:rPr sz="1600"/>
            </a:b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Открытки с поздравлениями</a:t>
            </a:r>
            <a:br>
              <a:rPr sz="1600"/>
            </a:b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Подарки и сюрпризы</a:t>
            </a:r>
            <a:br>
              <a:rPr sz="1600"/>
            </a:b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Праздничный стол</a:t>
            </a:r>
            <a:br>
              <a:rPr sz="1600"/>
            </a:b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Улыбки и хорошее настроение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" name="Picture 3" descr="cat_4.jpg"/>
          <p:cNvPicPr/>
          <p:nvPr/>
        </p:nvPicPr>
        <p:blipFill>
          <a:blip r:embed="rId1"/>
          <a:stretch/>
        </p:blipFill>
        <p:spPr>
          <a:xfrm>
            <a:off x="7315200" y="1828800"/>
            <a:ext cx="3657240" cy="2742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Box 1"/>
          <p:cNvSpPr/>
          <p:nvPr/>
        </p:nvSpPr>
        <p:spPr>
          <a:xfrm>
            <a:off x="3132360" y="457200"/>
            <a:ext cx="56217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ru-RU" sz="2800" spc="-1" strike="noStrike">
                <a:solidFill>
                  <a:srgbClr val="ff69b4"/>
                </a:solidFill>
                <a:latin typeface="Montserrat"/>
              </a:rPr>
              <a:t>👩‍👧‍👦 </a:t>
            </a:r>
            <a:r>
              <a:rPr b="1" lang="ru-RU" sz="2800" spc="-1" strike="noStrike">
                <a:solidFill>
                  <a:srgbClr val="ff69b4"/>
                </a:solidFill>
                <a:latin typeface="Montserrat"/>
              </a:rPr>
              <a:t>Роль женщин в обществе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2"/>
          <p:cNvSpPr/>
          <p:nvPr/>
        </p:nvSpPr>
        <p:spPr>
          <a:xfrm>
            <a:off x="914400" y="1371600"/>
            <a:ext cx="6400440" cy="13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Мама - хранительница очага</a:t>
            </a:r>
            <a:br>
              <a:rPr sz="1600"/>
            </a:b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Бабушка - источник мудрости</a:t>
            </a:r>
            <a:br>
              <a:rPr sz="1600"/>
            </a:b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Сестра - верный друг</a:t>
            </a:r>
            <a:br>
              <a:rPr sz="1600"/>
            </a:b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Коллега - профессионал</a:t>
            </a:r>
            <a:br>
              <a:rPr sz="1600"/>
            </a:b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Женщина - вдохновение!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6" name="Picture 3" descr="cat_5.jpg"/>
          <p:cNvPicPr/>
          <p:nvPr/>
        </p:nvPicPr>
        <p:blipFill>
          <a:blip r:embed="rId1"/>
          <a:stretch/>
        </p:blipFill>
        <p:spPr>
          <a:xfrm>
            <a:off x="7315200" y="1828800"/>
            <a:ext cx="3657240" cy="2742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Box 1"/>
          <p:cNvSpPr/>
          <p:nvPr/>
        </p:nvSpPr>
        <p:spPr>
          <a:xfrm>
            <a:off x="2629440" y="457200"/>
            <a:ext cx="66276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ru-RU" sz="2800" spc="-1" strike="noStrike">
                <a:solidFill>
                  <a:srgbClr val="ff69b4"/>
                </a:solidFill>
                <a:latin typeface="Montserrat"/>
              </a:rPr>
              <a:t>✨ </a:t>
            </a:r>
            <a:r>
              <a:rPr b="1" lang="ru-RU" sz="2800" spc="-1" strike="noStrike">
                <a:solidFill>
                  <a:srgbClr val="ff69b4"/>
                </a:solidFill>
                <a:latin typeface="Montserrat"/>
              </a:rPr>
              <a:t>Качества настоящих женщин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2"/>
          <p:cNvSpPr/>
          <p:nvPr/>
        </p:nvSpPr>
        <p:spPr>
          <a:xfrm>
            <a:off x="914400" y="1371600"/>
            <a:ext cx="6400440" cy="13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Нежность и забота</a:t>
            </a:r>
            <a:br>
              <a:rPr sz="1600"/>
            </a:b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Мудрость и терпение</a:t>
            </a:r>
            <a:br>
              <a:rPr sz="1600"/>
            </a:b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Сила и независимость</a:t>
            </a:r>
            <a:br>
              <a:rPr sz="1600"/>
            </a:b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Красота и изящество</a:t>
            </a:r>
            <a:br>
              <a:rPr sz="1600"/>
            </a:b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Доброта и сострадание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9" name="Picture 3" descr="cat_6.jpg"/>
          <p:cNvPicPr/>
          <p:nvPr/>
        </p:nvPicPr>
        <p:blipFill>
          <a:blip r:embed="rId1"/>
          <a:stretch/>
        </p:blipFill>
        <p:spPr>
          <a:xfrm>
            <a:off x="7315200" y="1828800"/>
            <a:ext cx="3657240" cy="2742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"/>
          <p:cNvSpPr/>
          <p:nvPr/>
        </p:nvSpPr>
        <p:spPr>
          <a:xfrm>
            <a:off x="2931840" y="457200"/>
            <a:ext cx="60228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ru-RU" sz="2800" spc="-1" strike="noStrike">
                <a:solidFill>
                  <a:srgbClr val="ff69b4"/>
                </a:solidFill>
                <a:latin typeface="Montserrat"/>
              </a:rPr>
              <a:t>🎁 </a:t>
            </a:r>
            <a:r>
              <a:rPr b="1" lang="ru-RU" sz="2800" spc="-1" strike="noStrike">
                <a:solidFill>
                  <a:srgbClr val="ff69b4"/>
                </a:solidFill>
                <a:latin typeface="Montserrat"/>
              </a:rPr>
              <a:t>Идеи подарков на 8 марта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2"/>
          <p:cNvSpPr/>
          <p:nvPr/>
        </p:nvSpPr>
        <p:spPr>
          <a:xfrm>
            <a:off x="914400" y="1371600"/>
            <a:ext cx="6400440" cy="13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Цветы - классика жанра</a:t>
            </a:r>
            <a:br>
              <a:rPr sz="1600"/>
            </a:b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Украшения и аксессуары</a:t>
            </a:r>
            <a:br>
              <a:rPr sz="1600"/>
            </a:b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Косметика и парфюмерия</a:t>
            </a:r>
            <a:br>
              <a:rPr sz="1600"/>
            </a:b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Сертификаты на впечатления</a:t>
            </a:r>
            <a:br>
              <a:rPr sz="1600"/>
            </a:b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Внимание и забота - главное!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2" name="Picture 3" descr="cat_7.jpg"/>
          <p:cNvPicPr/>
          <p:nvPr/>
        </p:nvPicPr>
        <p:blipFill>
          <a:blip r:embed="rId1"/>
          <a:stretch/>
        </p:blipFill>
        <p:spPr>
          <a:xfrm>
            <a:off x="7315200" y="1828800"/>
            <a:ext cx="3657240" cy="2742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Box 1"/>
          <p:cNvSpPr/>
          <p:nvPr/>
        </p:nvSpPr>
        <p:spPr>
          <a:xfrm>
            <a:off x="2046600" y="457200"/>
            <a:ext cx="779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ru-RU" sz="2800" spc="-1" strike="noStrike">
                <a:solidFill>
                  <a:srgbClr val="ff69b4"/>
                </a:solidFill>
                <a:latin typeface="Montserrat"/>
              </a:rPr>
              <a:t>💖 </a:t>
            </a:r>
            <a:r>
              <a:rPr b="1" lang="ru-RU" sz="2800" spc="-1" strike="noStrike">
                <a:solidFill>
                  <a:srgbClr val="ff69b4"/>
                </a:solidFill>
                <a:latin typeface="Montserrat"/>
              </a:rPr>
              <a:t>С Международным женским днем!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2"/>
          <p:cNvSpPr/>
          <p:nvPr/>
        </p:nvSpPr>
        <p:spPr>
          <a:xfrm>
            <a:off x="914400" y="1371600"/>
            <a:ext cx="640044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Желаем:</a:t>
            </a:r>
            <a:br>
              <a:rPr sz="1600"/>
            </a:b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Счастья и любви</a:t>
            </a:r>
            <a:br>
              <a:rPr sz="1600"/>
            </a:b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Здоровья и красоты</a:t>
            </a:r>
            <a:br>
              <a:rPr sz="1600"/>
            </a:b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Успеха во всем</a:t>
            </a:r>
            <a:br>
              <a:rPr sz="1600"/>
            </a:b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Весеннего настроения</a:t>
            </a:r>
            <a:br>
              <a:rPr sz="1600"/>
            </a:br>
            <a:r>
              <a:rPr b="0" lang="ru-RU" sz="1600" spc="-1" strike="noStrike">
                <a:solidFill>
                  <a:srgbClr val="034185"/>
                </a:solidFill>
                <a:latin typeface="Montserrat"/>
              </a:rPr>
              <a:t>• Исполнения всех желаний!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Picture 3" descr="cat_8.jpg"/>
          <p:cNvPicPr/>
          <p:nvPr/>
        </p:nvPicPr>
        <p:blipFill>
          <a:blip r:embed="rId1"/>
          <a:stretch/>
        </p:blipFill>
        <p:spPr>
          <a:xfrm>
            <a:off x="7315200" y="1828800"/>
            <a:ext cx="3657240" cy="2742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LibreOffice/7.6.7.2$Linux_X86_64 LibreOffice_project/60$Build-2</Application>
  <AppVersion>15.0000</AppVersion>
  <Words>141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2020-04-25T15:42:00Z</dcterms:created>
  <dc:creator>Andrey PlP</dc:creator>
  <dc:description/>
  <dc:language>ru-RU</dc:language>
  <cp:lastModifiedBy/>
  <dcterms:modified xsi:type="dcterms:W3CDTF">2026-03-07T10:06:48Z</dcterms:modified>
  <cp:revision>54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FAFB7367369743A481923895EC17D1E5_13</vt:lpwstr>
  </property>
  <property fmtid="{D5CDD505-2E9C-101B-9397-08002B2CF9AE}" pid="3" name="KSOProductBuildVer">
    <vt:lpwstr>1049-12.2.0.19307</vt:lpwstr>
  </property>
  <property fmtid="{D5CDD505-2E9C-101B-9397-08002B2CF9AE}" pid="4" name="PresentationFormat">
    <vt:lpwstr>Произвольный</vt:lpwstr>
  </property>
  <property fmtid="{D5CDD505-2E9C-101B-9397-08002B2CF9AE}" pid="5" name="Slides">
    <vt:i4>11</vt:i4>
  </property>
</Properties>
</file>